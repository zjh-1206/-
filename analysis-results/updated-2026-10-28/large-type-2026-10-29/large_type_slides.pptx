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色面表示保存模型条件均值预测。相同响应各页采用相同坐标、色标、等高线。灰色区域不作同等实验支持的预测。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图内主要数字/图例最小最终字号24.21pt。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色面表示保存模型条件均值预测。相同响应各页采用相同坐标、色标、等高线。灰色区域不作同等实验支持的预测。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图内主要数字/图例最小最终字号24.21pt。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色面表示保存模型条件均值预测。相同响应各页采用相同坐标、色标、等高线。灰色区域不作同等实验支持的预测。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图内主要数字/图例最小最终字号24.21pt。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色面表示保存模型条件均值预测。相同响应各页采用相同坐标、色标、等高线。灰色区域不作同等实验支持的预测。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图内主要数字/图例最小最终字号24.21pt。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色面表示保存模型条件均值预测。相同响应各页采用相同坐标、色标、等高线。灰色区域不作同等实验支持的预测。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图内主要数字/图例最小最终字号24.21pt。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色面表示保存模型条件均值预测。相同响应各页采用相同坐标、色标、等高线。灰色区域不作同等实验支持的预测。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图内主要数字/图例最小最终字号24.21pt。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F使用二次模型、P保持原项目2FI。斜率不直接等于显著性；各响应纵轴不同，不横跨响应比较曲线视觉斜率。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图内主要数字/图例最小最终字号24.21pt。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F使用二次模型、P保持原项目2FI。斜率不直接等于显著性；各响应纵轴不同，不横跨响应比较曲线视觉斜率。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图内主要数字/图例最小最终字号24.21pt。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绿色区域满足F≥80、P≤5模型均值目标，不能保证未来每一批均达标。原始模型与实验数据未改变。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图内主要数字/图例最小最终字号24.21pt。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Z轴截取75–90%用于显示该实验范围内差异；视觉坡度不能直接表示绝对效应。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图内主要数字/图例最小最终字号23.00pt。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Z轴截取75–90%用于显示该实验范围内差异；视觉坡度不能直接表示绝对效应。</a:t>
            </a:r>
          </a:p>
          <a:p>
            <a:r>
              <a:t>来源：用户上传DX13原项目，F二次/P 2FI。</a:t>
            </a:r>
          </a:p>
          <a:p>
            <a:r>
              <a:t>PNG/PDF为Liberation Serif替代字体；SVG请求Times New Roman。</a:t>
            </a:r>
          </a:p>
          <a:p>
            <a:r>
              <a:t>图内主要数字/图例最小最终字号23.00pt。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氟萃取率随温度和相比的变化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初始氟含量 = 0.8%　｜　灰区超出实验工况凸包</a:t>
            </a:r>
          </a:p>
        </p:txBody>
      </p:sp>
      <p:pic>
        <p:nvPicPr>
          <p:cNvPr id="4" name="Picture 3" descr="F_contour_C0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5" y="1335024"/>
            <a:ext cx="112552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氟萃取率随温度和相比的变化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初始氟含量 = 1.0%　｜　统一色标；圆点为已测工况位置</a:t>
            </a:r>
          </a:p>
        </p:txBody>
      </p:sp>
      <p:pic>
        <p:nvPicPr>
          <p:cNvPr id="4" name="Picture 3" descr="F_contour_C1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5" y="1335024"/>
            <a:ext cx="112552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氟萃取率随温度和相比的变化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初始氟含量 = 1.2%　｜　灰区超出实验工况凸包</a:t>
            </a:r>
          </a:p>
        </p:txBody>
      </p:sp>
      <p:pic>
        <p:nvPicPr>
          <p:cNvPr id="4" name="Picture 3" descr="F_contour_C1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5" y="1335024"/>
            <a:ext cx="112552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磷萃取率随温度和相比的变化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初始氟含量 = 0.8%　｜　灰区超出实验工况凸包</a:t>
            </a:r>
          </a:p>
        </p:txBody>
      </p:sp>
      <p:pic>
        <p:nvPicPr>
          <p:cNvPr id="4" name="Picture 3" descr="P_contour_C0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5" y="1335024"/>
            <a:ext cx="112552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磷萃取率随温度和相比的变化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初始氟含量 = 1.0%　｜　统一色标；圆点为已测工况位置</a:t>
            </a:r>
          </a:p>
        </p:txBody>
      </p:sp>
      <p:pic>
        <p:nvPicPr>
          <p:cNvPr id="4" name="Picture 3" descr="P_contour_C1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5" y="1335024"/>
            <a:ext cx="112552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磷萃取率随温度和相比的变化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初始氟含量 = 1.2%　｜　灰区超出实验工况凸包</a:t>
            </a:r>
          </a:p>
        </p:txBody>
      </p:sp>
      <p:pic>
        <p:nvPicPr>
          <p:cNvPr id="4" name="Picture 3" descr="P_contour_C1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5" y="1335024"/>
            <a:ext cx="112552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初始氟含量如何影响氟萃取率的温度响应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相比固定为 1.000　｜　曲线为模型条件均值预测</a:t>
            </a:r>
          </a:p>
        </p:txBody>
      </p:sp>
      <p:pic>
        <p:nvPicPr>
          <p:cNvPr id="4" name="Picture 3" descr="F_temperatur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5" y="1335024"/>
            <a:ext cx="112552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初始氟含量如何影响磷萃取率的温度响应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相比固定为 1.000　｜　曲线为模型条件均值预测</a:t>
            </a:r>
          </a:p>
        </p:txBody>
      </p:sp>
      <p:pic>
        <p:nvPicPr>
          <p:cNvPr id="4" name="Picture 3" descr="P_temperatur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5" y="1335024"/>
            <a:ext cx="112552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提高相比时，氟回收与磷损失同步变化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温度 = 85°C；初始氟含量 = 1.0%　｜　点旁数字为相比</a:t>
            </a:r>
          </a:p>
        </p:txBody>
      </p:sp>
      <p:pic>
        <p:nvPicPr>
          <p:cNvPr id="4" name="Picture 3" descr="FP_phase_ratio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5" y="1335024"/>
            <a:ext cx="112552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氟萃取率曲面：观察整体变化方向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初始氟含量 = 1.0%　｜　各曲面采用相同范围和视角</a:t>
            </a:r>
          </a:p>
        </p:txBody>
      </p:sp>
      <p:pic>
        <p:nvPicPr>
          <p:cNvPr id="4" name="Picture 3" descr="F_surface_C1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0"/>
            <a:ext cx="77724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19872" y="1856231"/>
            <a:ext cx="3611880" cy="3566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5384C"/>
                </a:solidFill>
                <a:latin typeface="Microsoft YaHei"/>
              </a:rPr>
              <a:t>轴标识</a:t>
            </a:r>
            <a:br/>
            <a:br/>
            <a:r>
              <a:rPr sz="2400" b="0">
                <a:solidFill>
                  <a:srgbClr val="15384C"/>
                </a:solidFill>
                <a:latin typeface="Microsoft YaHei"/>
              </a:rPr>
              <a:t>A：温度 / °C</a:t>
            </a:r>
            <a:br/>
            <a:r>
              <a:rPr sz="2400" b="0">
                <a:solidFill>
                  <a:srgbClr val="15384C"/>
                </a:solidFill>
                <a:latin typeface="Microsoft YaHei"/>
              </a:rPr>
              <a:t>B：相比</a:t>
            </a:r>
            <a:br/>
            <a:r>
              <a:rPr sz="2400" b="0">
                <a:solidFill>
                  <a:srgbClr val="15384C"/>
                </a:solidFill>
                <a:latin typeface="Microsoft YaHei"/>
              </a:rPr>
              <a:t>F：氟萃取率 / %</a:t>
            </a:r>
            <a:br/>
            <a:br/>
            <a:r>
              <a:rPr sz="2400" b="0">
                <a:solidFill>
                  <a:srgbClr val="15384C"/>
                </a:solidFill>
                <a:latin typeface="Microsoft YaHei"/>
              </a:rPr>
              <a:t>F 轴：75–90%</a:t>
            </a:r>
            <a:br/>
            <a:r>
              <a:rPr sz="2400" b="0">
                <a:solidFill>
                  <a:srgbClr val="15384C"/>
                </a:solidFill>
                <a:latin typeface="Microsoft YaHei"/>
              </a:rPr>
              <a:t>曲面为模型预测。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5384C"/>
                </a:solidFill>
                <a:latin typeface="Microsoft YaHei"/>
              </a:rPr>
              <a:t>氟萃取率曲面：观察整体变化方向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32104"/>
            <a:ext cx="11338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586671"/>
                </a:solidFill>
                <a:latin typeface="Microsoft YaHei"/>
              </a:rPr>
              <a:t>初始氟含量 = 0.8%　｜　各曲面采用相同范围和视角</a:t>
            </a:r>
          </a:p>
        </p:txBody>
      </p:sp>
      <p:pic>
        <p:nvPicPr>
          <p:cNvPr id="4" name="Picture 3" descr="F_surface_C0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0"/>
            <a:ext cx="77724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19872" y="1856231"/>
            <a:ext cx="3611880" cy="3566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5384C"/>
                </a:solidFill>
                <a:latin typeface="Microsoft YaHei"/>
              </a:rPr>
              <a:t>轴标识</a:t>
            </a:r>
            <a:br/>
            <a:br/>
            <a:r>
              <a:rPr sz="2400" b="0">
                <a:solidFill>
                  <a:srgbClr val="15384C"/>
                </a:solidFill>
                <a:latin typeface="Microsoft YaHei"/>
              </a:rPr>
              <a:t>A：温度 / °C</a:t>
            </a:r>
            <a:br/>
            <a:r>
              <a:rPr sz="2400" b="0">
                <a:solidFill>
                  <a:srgbClr val="15384C"/>
                </a:solidFill>
                <a:latin typeface="Microsoft YaHei"/>
              </a:rPr>
              <a:t>B：相比</a:t>
            </a:r>
            <a:br/>
            <a:r>
              <a:rPr sz="2400" b="0">
                <a:solidFill>
                  <a:srgbClr val="15384C"/>
                </a:solidFill>
                <a:latin typeface="Microsoft YaHei"/>
              </a:rPr>
              <a:t>F：氟萃取率 / %</a:t>
            </a:r>
            <a:br/>
            <a:br/>
            <a:r>
              <a:rPr sz="2400" b="0">
                <a:solidFill>
                  <a:srgbClr val="15384C"/>
                </a:solidFill>
                <a:latin typeface="Microsoft YaHei"/>
              </a:rPr>
              <a:t>F 轴：75–90%</a:t>
            </a:r>
            <a:br/>
            <a:r>
              <a:rPr sz="2400" b="0">
                <a:solidFill>
                  <a:srgbClr val="15384C"/>
                </a:solidFill>
                <a:latin typeface="Microsoft YaHei"/>
              </a:rPr>
              <a:t>曲面为模型预测。</a:t>
            </a:r>
            <a:br/>
            <a:r>
              <a:rPr sz="2400" b="0">
                <a:solidFill>
                  <a:srgbClr val="15384C"/>
                </a:solidFill>
                <a:latin typeface="Microsoft YaHei"/>
              </a:rPr>
              <a:t>仅显示设计凸包内区域。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