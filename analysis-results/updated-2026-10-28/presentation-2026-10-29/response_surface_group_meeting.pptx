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建议用时30秒。说明这是阶段性数据分析，不是已经完成工艺最优与能耗验证。数据源为用户确认的复测或核实更正后的截图，运行8、9、15、17有实质更新。未获得更正后的完整精度原始浓度/体积工作簿。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45秒。F与P为截图萃取率；本汇报把P萃取作为磷损失指标。β为两分配系数之比，无量纲。按现有两相质量平衡口径，β=[F/(100−F)]/[P/(100−P)]。能耗暂无实测，以温度筛选低温候选，不给节能百分比或最低kWh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建议50秒。A温度75/85/95°C；B相比0.667/1/1.333；C初始氟0.8/1/1.2%。12个边中点与5次中心重复合计17次，独立工况13个。相比方向应在正式汇报前按实验记录补全。图用编码水平表示，不是额外实验。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70秒。图的绿色区域为F≥80且P≤5。17次中只有Run3、11、17同时满足，三者均是同一中心工况的重复。中心5次F均值85.22022%，P均值5.066934%，P样本SD0.48414个百分点；P均值95%CI约4.46580–5.66807%。3/5单次通过不等于工况稳定通过。Run12虽β301.273，但F78.9055%低于80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建议65秒。全部基于最新正式更正截图。F完整二次：R²=.9950279、adj=.9886352、pred=.9700546、LOF p=.6502965。P线性预测优于完整二次。β完整二次虽整体p=.0094显著，但失拟p=.01143、预测R²=-.51278，不用于可靠寻优。预测R²为留一内部验证，不是新增实验验证。调整/预测差0.2是经验参考线。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固定初始氟1%。左图是F模型均值曲面，右图F着色、白线F=80、橙线P=5；斜线区域仅是两模型点预测同时达标区域，不是已验证工况，也未考虑单次波动。星号A为75/.830/1%，B为90/.770/1%。范围处于原BBD设计点凸包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建议75秒。β模型当前R²=.8982，预测R²=-.5128，LOF p=.0114。Run6、8各贡献17.20%PRESS，Run10、12各14.34%，合计63.08%。它们是高影响点，不是已确认错误；Bonferroni检验没有显著错误点。首轮Run6/8/12分别为85/1.333/1.2%，85/.667/.8%，95/.667/1%。Run12P1.22636%，0.1个百分点P偏差可使β约变8.3%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建议75秒。A75°C/.830/初始F1%，F均值80.9848、P3.9923；F单次PI79.8164–82.1532，P1.9574–6.0272，存在越界风险。B90°C/.770/1%，F81.2057、P2.92148，F PI80.1125–82.2989，P PI.9431–4.89984，当前模型界内但不是质量保证。无实测kWh。相比不同也改变热负荷，须实测同一处理量的能耗。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β诊断优先Run6/8/12各新增3次独立全流程重复，保留原观测；这些工况都不同时达80/5，不是最终推荐工况。达标/低温验证为A/B各3次独立重复，并记录本批F/P和实际能耗。新试验可按批次穿插中心工况质控；中心5次不是5种工况。补回完整精度原始浓度、相体积和仪器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45秒。总结三点：一是F二次/P线性内部预测相对较好，但不能替代新增实验。二是β失拟显著、高β不保证回收/磷损失达标，按诊断优先级复验。三是75/90低温候选尚未独立验证，能源尚无数据，后续在达标基础上测量单位能耗。请勿宣称已得到稳定达标或最低能耗工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备用页。全部采用截图显示精度；Run是运行顺序，Std是标准设计序号。Run8/9/15/17为用户确认的正式更正。温度°C，初始氟%，β无量纲；P列按磷萃取率作为磷损失指标。相同中心工况不可当作独立不同条件。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。此处以β响应为例。当前BBD有13个独立工况；20列完整三次设计矩阵秩13，与独立工况数相同，12个非中心点杠杆值1；残差只剩中心纯误差。β三次R²=.99194245、adj=.96776979，不能计算通常PRESS和预测R²。某些显示零的三次系数可能源于混杂/不可估计，不能据此说效应为零。三次模型需要新独立设计条件和可估计性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。A=(T−85)/10，B=(相比−1)/.333，C=(初始F−1)/.2，初始F的数字1表示1%。R²=1−SSE/SST；预测R²=1−PRESS/SST，PRESS按留一重拟合核验。F/P模型下的候选区间是各响应分别的固定模型区间，不计寻优/选模等不确定性。β公式按现有两相质量平衡口径。计算使用Python标准OLS复核，并非运行专有软件自动生成原生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109728" cy="548640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89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AEC6D1"/>
                </a:solidFill>
                <a:latin typeface="Noto Sans CJK SC"/>
              </a:rPr>
              <a:t>阶段汇报｜三因素 Box–Behnken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</a:rPr>
              <a:t>氟选择性萃取的响应面分析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</a:rPr>
              <a:t>与低温方案筛选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0">
                <a:solidFill>
                  <a:srgbClr val="D7E7ED"/>
                </a:solidFill>
                <a:latin typeface="Noto Sans CJK SC"/>
              </a:rPr>
              <a:t>提高氟回收 · 控制磷损失 · 以实测能耗完成最终评价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EC6D1"/>
                </a:solidFill>
                <a:latin typeface="Noto Sans CJK SC"/>
              </a:rPr>
              <a:t>正式更正数据｜17次实验｜2026年10月29日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01 / 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先明确达标条件，再比较选择性与能耗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50292" cy="2743200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938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氟萃取率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78024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157A8A"/>
                </a:solidFill>
                <a:latin typeface="Noto Sans CJK SC"/>
              </a:rPr>
              <a:t>≥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保证有效氟回收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78308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50292" cy="2743200"/>
          </a:xfrm>
          <a:prstGeom prst="rect">
            <a:avLst/>
          </a:prstGeom>
          <a:solidFill>
            <a:srgbClr val="D4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2938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磷损失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478024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D48A35"/>
                </a:solidFill>
                <a:latin typeface="Noto Sans CJK SC"/>
              </a:rPr>
              <a:t>≤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2461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减少磷进入萃取相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78308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783080"/>
            <a:ext cx="50292" cy="2743200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92938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氟选择性 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478024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157A8A"/>
                </a:solidFill>
                <a:latin typeface="Noto Sans CJK SC"/>
              </a:rPr>
              <a:t>越高越好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2461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β = D氟 / D磷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需要同时满足回收指标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92040"/>
            <a:ext cx="11000232" cy="868680"/>
          </a:xfrm>
          <a:prstGeom prst="roundRect">
            <a:avLst>
              <a:gd name="adj" fmla="val 10000"/>
            </a:avLst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能耗评价：后续比较 kWh/m³进料 与 kWh/kg回收氟；目前先筛低温方案。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02 / 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17次实验包含13个工况，中心点重复5次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1005840"/>
                <a:gridCol w="1005840"/>
              </a:tblGrid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因素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低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中心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高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A 温度 / °C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75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95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B 相比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0.667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1.333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C 初始氟 / %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0.8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83647"/>
                          </a:solidFill>
                          <a:latin typeface="Noto Sans CJK SC"/>
                        </a:rPr>
                        <a:t>1.2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389120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12个边中点 + 5次中心重复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更正数据：Run8、9、15、17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相比方向须按实验记录补全。</a:t>
            </a:r>
          </a:p>
        </p:txBody>
      </p:sp>
      <p:pic>
        <p:nvPicPr>
          <p:cNvPr id="10" name="Picture 9" descr="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74459"/>
            <a:ext cx="5394960" cy="362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03 / 实测结果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单次达标不等于该工况稳定达标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4</a:t>
            </a:r>
          </a:p>
        </p:txBody>
      </p:sp>
      <p:pic>
        <p:nvPicPr>
          <p:cNvPr id="8" name="Picture 7" descr="observed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39" y="1664208"/>
            <a:ext cx="6547064" cy="4297680"/>
          </a:xfrm>
          <a:prstGeom prst="rect">
            <a:avLst/>
          </a:prstGeom>
        </p:spPr>
      </p:pic>
      <p:pic>
        <p:nvPicPr>
          <p:cNvPr id="9" name="Picture 8" descr="centre_repe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183" y="1664208"/>
            <a:ext cx="3830032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D48A35"/>
                </a:solidFill>
                <a:latin typeface="Noto Sans CJK SC"/>
              </a:rPr>
              <a:t>中心工况：F均值85.22%，P均值5.067%；仅3/5次同时达标，仍需确认重复性。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04 / 模型可信度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氟模型内部预测较好，β模型仍存在失拟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10512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920240"/>
                <a:gridCol w="192024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响应 / 模型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R²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调整R²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预测R²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</a:rPr>
                        <a:t>失拟p</a:t>
                      </a:r>
                    </a:p>
                  </a:txBody>
                  <a:tcPr marL="109728" marR="73152" marT="91440" marB="54864" anchor="ctr">
                    <a:solidFill>
                      <a:srgbClr val="1836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氟：完整二次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0.9950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0.9886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0.9701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0.6503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磷：线性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0.9209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0.9027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0.8536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0.0956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磷：完整二次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0.9633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0.9161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0.5255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0.0788</a:t>
                      </a:r>
                    </a:p>
                  </a:txBody>
                  <a:tcPr marL="109728" marR="73152" marT="91440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β：完整二次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0.8982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0.7673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−0.5128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83647"/>
                          </a:solidFill>
                          <a:latin typeface="Noto Sans CJK SC"/>
                        </a:rPr>
                        <a:t>0.0114</a:t>
                      </a:r>
                    </a:p>
                  </a:txBody>
                  <a:tcPr marL="109728" marR="73152" marT="91440" marB="54864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901184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>
                <a:solidFill>
                  <a:srgbClr val="157A8A"/>
                </a:solidFill>
                <a:latin typeface="Noto Sans CJK SC"/>
              </a:rPr>
              <a:t>氟保留完整二次；磷优先采用线性。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>
                <a:solidFill>
                  <a:srgbClr val="157A8A"/>
                </a:solidFill>
                <a:latin typeface="Noto Sans CJK SC"/>
              </a:rPr>
              <a:t>β暂用于实测描述和诊断，先补充复验，再判断模型形式。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05 / 响应面与条件筛选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用等高线识别达标区域，比只看曲面更直接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6</a:t>
            </a:r>
          </a:p>
        </p:txBody>
      </p:sp>
      <p:pic>
        <p:nvPicPr>
          <p:cNvPr id="8" name="Picture 7" descr="F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8" y="1719072"/>
            <a:ext cx="5399823" cy="4160520"/>
          </a:xfrm>
          <a:prstGeom prst="rect">
            <a:avLst/>
          </a:prstGeom>
        </p:spPr>
      </p:pic>
      <p:pic>
        <p:nvPicPr>
          <p:cNvPr id="9" name="Picture 8" descr="feasible_con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484" y="1719072"/>
            <a:ext cx="5399823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907024"/>
            <a:ext cx="10972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37988"/>
                </a:solidFill>
                <a:latin typeface="Noto Sans CJK SC"/>
              </a:rPr>
              <a:t>固定初始氟1%｜白线：F=80%｜橙线：P=5%｜斜线区：点预测同时达标，尚待验证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06 / 氟选择性诊断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β的高影响条件需要复验，不能仅凭高值寻优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7</a:t>
            </a:r>
          </a:p>
        </p:txBody>
      </p:sp>
      <p:pic>
        <p:nvPicPr>
          <p:cNvPr id="8" name="Picture 7" descr="beta_actual_fit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1664208"/>
            <a:ext cx="4913376" cy="3566160"/>
          </a:xfrm>
          <a:prstGeom prst="rect">
            <a:avLst/>
          </a:prstGeom>
        </p:spPr>
      </p:pic>
      <p:pic>
        <p:nvPicPr>
          <p:cNvPr id="9" name="Picture 8" descr="beta_p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12" y="1664208"/>
            <a:ext cx="4913376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440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D48A35"/>
                </a:solidFill>
                <a:latin typeface="Noto Sans CJK SC"/>
              </a:rPr>
              <a:t>首轮复验 Run6、8、12；预算允许再加10、1。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D48A35"/>
                </a:solidFill>
                <a:latin typeface="Noto Sans CJK SC"/>
              </a:rPr>
              <a:t>Run12：β≈301，但F仅78.91%；高选择性仍需满足回收率门槛。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07 / 能耗与候选方案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75°C可探索低温，90°C可作更保守的验证对照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8</a:t>
            </a:r>
          </a:p>
        </p:txBody>
      </p:sp>
      <p:pic>
        <p:nvPicPr>
          <p:cNvPr id="8" name="Picture 7" descr="energy_candi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27632"/>
            <a:ext cx="9875519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48A35"/>
                </a:solidFill>
                <a:latin typeface="Noto Sans CJK SC"/>
              </a:rPr>
              <a:t>两方案初始氟均1%｜A：75°C / 相比0.830｜B：90°C / 相比0.770｜尚无实测能耗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08 / 验证计划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下一轮把β诊断与达标验证分开安排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4924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4924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157A8A"/>
                </a:solidFill>
                <a:latin typeface="Noto Sans CJK SC"/>
              </a:rPr>
              <a:t>路线一｜β模型诊断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Run6、8、12：各新增3次独立萃取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测F/P浓度与前后相体积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保留旧数据和全部复测结果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用于区分重复性问题与模型失拟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>
                <a:solidFill>
                  <a:srgbClr val="157A8A"/>
                </a:solidFill>
                <a:latin typeface="Noto Sans CJK SC"/>
              </a:rPr>
              <a:t>路线二｜达标与低温验证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A/B方案：各3次独立重复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同步测本批F/P和总耗电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统一处理量、时间和计量范围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比较kWh/m³与kWh/kg回收氟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637988"/>
                </a:solidFill>
                <a:latin typeface="Noto Sans CJK SC"/>
              </a:rPr>
              <a:t>复验目的不同：高影响点用于诊断；低温候选用于确认达标与实际能耗。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09 /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阶段结论：已有模型基础，尚需独立验证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927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4825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57A8A"/>
                </a:solidFill>
                <a:latin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65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>
                <a:solidFill>
                  <a:srgbClr val="183647"/>
                </a:solidFill>
                <a:latin typeface="Noto Sans CJK SC"/>
              </a:rPr>
              <a:t>模型基础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2996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83647"/>
                </a:solidFill>
                <a:latin typeface="Noto Sans CJK SC"/>
              </a:rPr>
              <a:t>氟二次与磷线性具有较好的内部预测表现。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72968"/>
            <a:ext cx="10927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9242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57A8A"/>
                </a:solidFill>
                <a:latin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101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>
                <a:solidFill>
                  <a:srgbClr val="183647"/>
                </a:solidFill>
                <a:latin typeface="Noto Sans CJK SC"/>
              </a:rPr>
              <a:t>选择性边界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741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83647"/>
                </a:solidFill>
                <a:latin typeface="Noto Sans CJK SC"/>
              </a:rPr>
              <a:t>β模型仍失拟；高β需要与回收率、磷损失一起判断。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17136"/>
            <a:ext cx="10927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57A8A"/>
                </a:solidFill>
                <a:latin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54296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>
                <a:solidFill>
                  <a:srgbClr val="183647"/>
                </a:solidFill>
                <a:latin typeface="Noto Sans CJK SC"/>
              </a:rPr>
              <a:t>下一步证据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1830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83647"/>
                </a:solidFill>
                <a:latin typeface="Noto Sans CJK SC"/>
              </a:rPr>
              <a:t>先做独立重复与能耗配对测量，再确定最终操作条件。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备份 / 数据追溯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备份｜17次正式更正数据与运行编号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备份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64208"/>
          <a:ext cx="10927080" cy="446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1097280"/>
                <a:gridCol w="1280160"/>
                <a:gridCol w="1371600"/>
                <a:gridCol w="1737360"/>
                <a:gridCol w="1783080"/>
                <a:gridCol w="1828800"/>
              </a:tblGrid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Std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Run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T/°C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相比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初始F/%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F/%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P/%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</a:rPr>
                        <a:t>β</a:t>
                      </a:r>
                    </a:p>
                  </a:txBody>
                  <a:tcPr marL="109728" marR="73152" marT="22860" marB="22860" anchor="ctr">
                    <a:solidFill>
                      <a:srgbClr val="183647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0.667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77.1194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1.63611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202.637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85.0926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5.64420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95.424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3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85.8652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4.84424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119.326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1.333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88.9474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10.19640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70.879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82.7763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6.67532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67.190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1.333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88.9922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8.93414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82.405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0.667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76.0625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1.81942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171.468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0.667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0.8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79.4977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2.94802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127.652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86.3856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5.36879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111.841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1.333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87.4471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8.48328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75.151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14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84.9271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4.47581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120.252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0.667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78.9055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1.22636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301.273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16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13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85.4887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5.48297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101.554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14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1.333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0.8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86.9569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9.52285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63.342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0.8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84.4137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7.64651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65.412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16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95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0.8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84.4627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5.48299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93.709</a:t>
                      </a:r>
                    </a:p>
                  </a:txBody>
                  <a:tcPr marL="109728" marR="73152" marT="22860" marB="22860" anchor="ctr">
                    <a:solidFill>
                      <a:srgbClr val="EAF3F5"/>
                    </a:solidFill>
                  </a:tcPr>
                </a:tc>
              </a:tr>
              <a:tr h="247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13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17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1.000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1.0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84.7275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4.88745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83647"/>
                          </a:solidFill>
                          <a:latin typeface="Noto Sans CJK SC"/>
                        </a:rPr>
                        <a:t>107.961</a:t>
                      </a:r>
                    </a:p>
                  </a:txBody>
                  <a:tcPr marL="109728" marR="73152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备份 / 模型可估计性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备份｜β三次模型的高R²与NA预测指标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备份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0292" cy="2560320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751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独立工况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2374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157A8A"/>
                </a:solidFill>
                <a:latin typeface="Noto Sans CJK SC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91840"/>
            <a:ext cx="310896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17次运行，中心重复5次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28800"/>
            <a:ext cx="50292" cy="2560320"/>
          </a:xfrm>
          <a:prstGeom prst="rect">
            <a:avLst/>
          </a:prstGeom>
          <a:solidFill>
            <a:srgbClr val="D4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751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三次设计有效秩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2374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D48A35"/>
                </a:solidFill>
                <a:latin typeface="Noto Sans CJK SC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291840"/>
            <a:ext cx="310896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12个非中心点杠杆值=1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82880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828800"/>
            <a:ext cx="50292" cy="2560320"/>
          </a:xfrm>
          <a:prstGeom prst="rect">
            <a:avLst/>
          </a:prstGeom>
          <a:solidFill>
            <a:srgbClr val="D4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3" y="19751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37988"/>
                </a:solidFill>
                <a:latin typeface="Noto Sans CJK SC"/>
              </a:rPr>
              <a:t>预测R²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52374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500" b="1">
                <a:solidFill>
                  <a:srgbClr val="D48A35"/>
                </a:solidFill>
                <a:latin typeface="Noto Sans CJK SC"/>
              </a:rPr>
              <a:t>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291840"/>
            <a:ext cx="310896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83647"/>
                </a:solidFill>
                <a:latin typeface="Noto Sans CJK SC"/>
              </a:rPr>
              <a:t>PRESS无法按常规留一法计算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83647"/>
                </a:solidFill>
                <a:latin typeface="Noto Sans CJK SC"/>
              </a:rPr>
              <a:t>β三次模型R²≈0.9919，现有点被拟合得很满。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83647"/>
                </a:solidFill>
                <a:latin typeface="Noto Sans CJK SC"/>
              </a:rPr>
              <a:t>当前三次模型不作为可靠预测或工艺寻优的最终模型。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91440" cy="292608"/>
          </a:xfrm>
          <a:prstGeom prst="rect">
            <a:avLst/>
          </a:prstGeom>
          <a:solidFill>
            <a:srgbClr val="15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37988"/>
                </a:solidFill>
                <a:latin typeface="Noto Sans CJK SC"/>
              </a:rPr>
              <a:t>备份 / 计算方法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83647"/>
                </a:solidFill>
                <a:latin typeface="Noto Sans CJK SC"/>
              </a:rPr>
              <a:t>备份｜编码方程与指标口径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55680" cy="10972"/>
          </a:xfrm>
          <a:prstGeom prst="rect">
            <a:avLst/>
          </a:prstGeom>
          <a:solidFill>
            <a:srgbClr val="D5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数据：用户核实更正截图｜17次实验 / 13工况｜模型预测仍需独立验证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37988"/>
                </a:solidFill>
                <a:latin typeface="Noto Sans CJK SC"/>
              </a:rPr>
              <a:t>备份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57A8A"/>
                </a:solidFill>
                <a:latin typeface="Noto Sans CJK SC"/>
              </a:rPr>
              <a:t>A=(T−85)/10；B=(相比−1)/0.333；C=(初始氟−1)/0.2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氟萃取率 = 85.22022 + 0.86809A + 5.09481B − 0.13930C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− 0.07145AB + 0.89008AC + 1.36763BC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83647"/>
                </a:solidFill>
                <a:latin typeface="Noto Sans CJK SC"/>
              </a:rPr>
              <a:t>− 0.24156A² − 1.87381B² − 0.46909C²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183647"/>
                </a:solidFill>
                <a:latin typeface="Noto Sans CJK SC"/>
              </a:rPr>
              <a:t>磷萃取率 = 5.60440 − 0.27084A + 3.68835B − 0.35034C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017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637988"/>
                </a:solidFill>
                <a:latin typeface="Noto Sans CJK SC"/>
              </a:rPr>
              <a:t>R²：已有数据拟合程度；预测R²：留一内部预测指标。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>
                <a:solidFill>
                  <a:srgbClr val="637988"/>
                </a:solidFill>
                <a:latin typeface="Noto Sans CJK SC"/>
              </a:rPr>
              <a:t>区间、独立重复及实际工艺约束，需要共同用于判断。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